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7" d="100"/>
          <a:sy n="117" d="100"/>
        </p:scale>
        <p:origin x="234" y="10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10/3/2025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10/3/2025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10/3/2025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233307" y="4141999"/>
            <a:ext cx="4479653" cy="861497"/>
          </a:xfrm>
        </p:spPr>
        <p:txBody>
          <a:bodyPr>
            <a:normAutofit/>
          </a:bodyPr>
          <a:lstStyle/>
          <a:p>
            <a:pPr algn="r"/>
            <a:r>
              <a:rPr lang="en-US" dirty="0">
                <a:solidFill>
                  <a:schemeClr val="tx1"/>
                </a:solidFill>
              </a:rPr>
              <a:t>K Ranga </a:t>
            </a:r>
            <a:r>
              <a:rPr lang="en-US" dirty="0" err="1">
                <a:solidFill>
                  <a:schemeClr val="tx1"/>
                </a:solidFill>
              </a:rPr>
              <a:t>Nitheesh</a:t>
            </a:r>
            <a:r>
              <a:rPr lang="en-US" dirty="0">
                <a:solidFill>
                  <a:schemeClr val="tx1"/>
                </a:solidFill>
              </a:rPr>
              <a:t> Kumar Reddy APPLY_175569249068a5bdca6dbf5</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33307" y="2050553"/>
            <a:ext cx="6078284" cy="743448"/>
          </a:xfrm>
        </p:spPr>
        <p:txBody>
          <a:bodyPr>
            <a:normAutofit/>
          </a:bodyPr>
          <a:lstStyle/>
          <a:p>
            <a:r>
              <a:rPr lang="en-US" b="1" dirty="0"/>
              <a:t>AIRBNB HOTEL BOOKING ANALYSIS</a:t>
            </a:r>
            <a:endParaRPr lang="en-US"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6" y="1625006"/>
            <a:ext cx="7888379" cy="4310430"/>
          </a:xfrm>
        </p:spPr>
        <p:txBody>
          <a:bodyPr>
            <a:normAutofit/>
          </a:bodyPr>
          <a:lstStyle/>
          <a:p>
            <a:r>
              <a:rPr lang="en-US" sz="2800" dirty="0"/>
              <a:t>Airbnb allows property owners to rent homes or apartments to travelers. A key challenge for hosts is setting the right price, which depends on factors like the number of bedrooms and bathrooms, cleanliness, listing accuracy, and communication quality with guests.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850994" cy="5358823"/>
          </a:xfrm>
        </p:spPr>
        <p:txBody>
          <a:bodyPr>
            <a:normAutofit/>
          </a:bodyPr>
          <a:lstStyle/>
          <a:p>
            <a:r>
              <a:rPr lang="en-GB" dirty="0"/>
              <a:t>Project Description</a:t>
            </a:r>
            <a:br>
              <a:rPr lang="en-GB" dirty="0"/>
            </a:br>
            <a:r>
              <a:rPr lang="en-US" sz="3200" b="0" dirty="0"/>
              <a:t>This project builds a machine learning regression model to predict Airbnb listing prices. By analyzing historical data and listing attributes—such as number of bedrooms, bathrooms, and guest ratings—the model helps hosts set optimal prices, maximizing occupancy and earnings, while ensuring fair and competitive rates for travelers.</a:t>
            </a:r>
            <a:endParaRPr lang="en-IN" sz="32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42A4F1C-3B9F-2AB3-8A6E-B302E8437244}"/>
              </a:ext>
            </a:extLst>
          </p:cNvPr>
          <p:cNvSpPr>
            <a:spLocks noGrp="1" noChangeArrowheads="1"/>
          </p:cNvSpPr>
          <p:nvPr>
            <p:ph type="body" sz="quarter" idx="12"/>
          </p:nvPr>
        </p:nvSpPr>
        <p:spPr bwMode="auto">
          <a:xfrm>
            <a:off x="620008" y="2054507"/>
            <a:ext cx="982211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Airbnb Hosts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Optimize listing prices based on property features and guest reviews.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Travelers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Assess whether a listing is fairly priced.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Airbnb Platform Analysts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Enhance automated pricing suggestions and platform trust.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Researchers/Students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Study how property features and reviews influence rental pricing.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D3473D8B-8131-5ED3-6A1F-A715527EC160}"/>
              </a:ext>
            </a:extLst>
          </p:cNvPr>
          <p:cNvSpPr>
            <a:spLocks noGrp="1" noChangeArrowheads="1"/>
          </p:cNvSpPr>
          <p:nvPr>
            <p:ph type="body" sz="quarter" idx="12"/>
          </p:nvPr>
        </p:nvSpPr>
        <p:spPr bwMode="auto">
          <a:xfrm>
            <a:off x="1177391" y="1783162"/>
            <a:ext cx="935453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Python:</a:t>
            </a:r>
            <a:r>
              <a:rPr kumimoji="0" lang="en-US" altLang="en-US" sz="2400" b="0" i="0" u="none" strike="noStrike" cap="none" normalizeH="0" baseline="0" dirty="0">
                <a:ln>
                  <a:noFill/>
                </a:ln>
                <a:solidFill>
                  <a:schemeClr val="tx1"/>
                </a:solidFill>
                <a:effectLst/>
                <a:latin typeface="Arial" panose="020B0604020202020204" pitchFamily="34" charset="0"/>
              </a:rPr>
              <a:t> Core programming language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Pandas &amp; NumPy:</a:t>
            </a:r>
            <a:r>
              <a:rPr kumimoji="0" lang="en-US" altLang="en-US" sz="2400" b="0" i="0" u="none" strike="noStrike" cap="none" normalizeH="0" baseline="0" dirty="0">
                <a:ln>
                  <a:noFill/>
                </a:ln>
                <a:solidFill>
                  <a:schemeClr val="tx1"/>
                </a:solidFill>
                <a:effectLst/>
                <a:latin typeface="Arial" panose="020B0604020202020204" pitchFamily="34" charset="0"/>
              </a:rPr>
              <a:t> Data cleaning and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Scikit-learn:</a:t>
            </a:r>
            <a:r>
              <a:rPr kumimoji="0" lang="en-US" altLang="en-US" sz="2400" b="0" i="0" u="none" strike="noStrike" cap="none" normalizeH="0" baseline="0" dirty="0">
                <a:ln>
                  <a:noFill/>
                </a:ln>
                <a:solidFill>
                  <a:schemeClr val="tx1"/>
                </a:solidFill>
                <a:effectLst/>
                <a:latin typeface="Arial" panose="020B0604020202020204" pitchFamily="34" charset="0"/>
              </a:rPr>
              <a:t> Machine learning, regression modeling, and evaluation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Matplotlib &amp; Seaborn:</a:t>
            </a:r>
            <a:r>
              <a:rPr kumimoji="0" lang="en-US" altLang="en-US" sz="2400" b="0" i="0" u="none" strike="noStrike" cap="none" normalizeH="0" baseline="0" dirty="0">
                <a:ln>
                  <a:noFill/>
                </a:ln>
                <a:solidFill>
                  <a:schemeClr val="tx1"/>
                </a:solidFill>
                <a:effectLst/>
                <a:latin typeface="Arial" panose="020B0604020202020204" pitchFamily="34" charset="0"/>
              </a:rPr>
              <a:t> Data visualization and feature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Google </a:t>
            </a:r>
            <a:r>
              <a:rPr kumimoji="0" lang="en-US" altLang="en-US" sz="2400" b="1" i="0" u="none" strike="noStrike" cap="none" normalizeH="0" baseline="0" dirty="0" err="1">
                <a:ln>
                  <a:noFill/>
                </a:ln>
                <a:solidFill>
                  <a:schemeClr val="tx1"/>
                </a:solidFill>
                <a:effectLst/>
                <a:latin typeface="Arial" panose="020B0604020202020204" pitchFamily="34" charset="0"/>
              </a:rPr>
              <a:t>Colab</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Cloud-based environment for project execution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File Handling: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Unicode MS"/>
              </a:rPr>
              <a:t>openpyxl</a:t>
            </a:r>
            <a:r>
              <a:rPr kumimoji="0" lang="en-US" altLang="en-US" sz="2400" b="0" i="0" u="none" strike="noStrike" cap="none" normalizeH="0" baseline="0" dirty="0">
                <a:ln>
                  <a:noFill/>
                </a:ln>
                <a:solidFill>
                  <a:schemeClr val="tx1"/>
                </a:solidFill>
                <a:effectLst/>
              </a:rPr>
              <a:t> for Excel, built-in CSV handling</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2356F361-DB9C-4716-8572-8E67E9AB4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1" name="Straight Connector 20">
              <a:extLst>
                <a:ext uri="{FF2B5EF4-FFF2-40B4-BE49-F238E27FC236}">
                  <a16:creationId xmlns:a16="http://schemas.microsoft.com/office/drawing/2014/main" id="{E6FF2CA3-6D93-438A-AA13-5844C345F8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D6C7FF8-C6AA-493F-BF62-FC52DE2770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5" name="Rectangle 23">
              <a:extLst>
                <a:ext uri="{FF2B5EF4-FFF2-40B4-BE49-F238E27FC236}">
                  <a16:creationId xmlns:a16="http://schemas.microsoft.com/office/drawing/2014/main" id="{215DAE39-2187-4AA8-8703-0F2B3BCFE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5">
              <a:extLst>
                <a:ext uri="{FF2B5EF4-FFF2-40B4-BE49-F238E27FC236}">
                  <a16:creationId xmlns:a16="http://schemas.microsoft.com/office/drawing/2014/main" id="{1D0826C5-89FD-49A0-9E8F-19DA04FE6F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36">
              <a:extLst>
                <a:ext uri="{FF2B5EF4-FFF2-40B4-BE49-F238E27FC236}">
                  <a16:creationId xmlns:a16="http://schemas.microsoft.com/office/drawing/2014/main" id="{CE0557FD-5B6C-4875-9EA4-18DAD6258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27">
              <a:extLst>
                <a:ext uri="{FF2B5EF4-FFF2-40B4-BE49-F238E27FC236}">
                  <a16:creationId xmlns:a16="http://schemas.microsoft.com/office/drawing/2014/main" id="{55C096D6-25B6-418D-8FFF-894AC5FB6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8">
              <a:extLst>
                <a:ext uri="{FF2B5EF4-FFF2-40B4-BE49-F238E27FC236}">
                  <a16:creationId xmlns:a16="http://schemas.microsoft.com/office/drawing/2014/main" id="{4480C8B4-C2F4-427B-B03E-ABF3C9AF1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Rectangle 29">
              <a:extLst>
                <a:ext uri="{FF2B5EF4-FFF2-40B4-BE49-F238E27FC236}">
                  <a16:creationId xmlns:a16="http://schemas.microsoft.com/office/drawing/2014/main" id="{E767DA1E-BBBF-419C-8E95-8393DA0F7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Isosceles Triangle 40">
              <a:extLst>
                <a:ext uri="{FF2B5EF4-FFF2-40B4-BE49-F238E27FC236}">
                  <a16:creationId xmlns:a16="http://schemas.microsoft.com/office/drawing/2014/main" id="{D88EF27D-D851-4A85-942B-DC69237C8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Isosceles Triangle 41">
              <a:extLst>
                <a:ext uri="{FF2B5EF4-FFF2-40B4-BE49-F238E27FC236}">
                  <a16:creationId xmlns:a16="http://schemas.microsoft.com/office/drawing/2014/main" id="{808DF878-FD48-4C53-8A3A-4636F450E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065" y="609600"/>
            <a:ext cx="2930518" cy="1320800"/>
          </a:xfrm>
        </p:spPr>
        <p:txBody>
          <a:bodyPr vert="horz" lIns="91440" tIns="45720" rIns="91440" bIns="45720" rtlCol="0" anchor="ctr">
            <a:normAutofit/>
          </a:bodyPr>
          <a:lstStyle/>
          <a:p>
            <a:r>
              <a:rPr lang="en-US" sz="3600">
                <a:solidFill>
                  <a:schemeClr val="accent1"/>
                </a:solidFill>
              </a:rPr>
              <a:t>RESULTS1 </a:t>
            </a:r>
          </a:p>
        </p:txBody>
      </p:sp>
      <p:sp>
        <p:nvSpPr>
          <p:cNvPr id="13" name="TextBox 12">
            <a:extLst>
              <a:ext uri="{FF2B5EF4-FFF2-40B4-BE49-F238E27FC236}">
                <a16:creationId xmlns:a16="http://schemas.microsoft.com/office/drawing/2014/main" id="{FDF3D5FC-33EC-ABDA-C7CE-FE20F1429746}"/>
              </a:ext>
            </a:extLst>
          </p:cNvPr>
          <p:cNvSpPr txBox="1"/>
          <p:nvPr/>
        </p:nvSpPr>
        <p:spPr>
          <a:xfrm>
            <a:off x="671361" y="2160589"/>
            <a:ext cx="2930517" cy="3880773"/>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b="0" i="0">
                <a:solidFill>
                  <a:schemeClr val="tx1">
                    <a:lumMod val="75000"/>
                    <a:lumOff val="25000"/>
                  </a:schemeClr>
                </a:solidFill>
                <a:effectLst/>
              </a:rPr>
              <a:t>The dataset contains five different neighborhood groups, namely Brooklyn, Manhattan, Queens, Bronx, and Staten Island. According to the barchart, Brooklyn has the highest number of listings with 34636, followed closely by Manhattan with 34566.</a:t>
            </a:r>
            <a:endParaRPr lang="en-US">
              <a:solidFill>
                <a:schemeClr val="tx1">
                  <a:lumMod val="75000"/>
                  <a:lumOff val="25000"/>
                </a:schemeClr>
              </a:solidFill>
            </a:endParaRPr>
          </a:p>
        </p:txBody>
      </p:sp>
      <p:pic>
        <p:nvPicPr>
          <p:cNvPr id="15" name="Picture 14" descr="A graph of a number of rooms">
            <a:extLst>
              <a:ext uri="{FF2B5EF4-FFF2-40B4-BE49-F238E27FC236}">
                <a16:creationId xmlns:a16="http://schemas.microsoft.com/office/drawing/2014/main" id="{5748322C-C258-B4BC-9F86-608B82EC1137}"/>
              </a:ext>
            </a:extLst>
          </p:cNvPr>
          <p:cNvPicPr>
            <a:picLocks noChangeAspect="1"/>
          </p:cNvPicPr>
          <p:nvPr/>
        </p:nvPicPr>
        <p:blipFill>
          <a:blip r:embed="rId2"/>
          <a:stretch>
            <a:fillRect/>
          </a:stretch>
        </p:blipFill>
        <p:spPr>
          <a:xfrm>
            <a:off x="4601335" y="609599"/>
            <a:ext cx="6391102" cy="4234107"/>
          </a:xfrm>
          <a:prstGeom prst="rect">
            <a:avLst/>
          </a:prstGeom>
        </p:spPr>
      </p:pic>
      <p:pic>
        <p:nvPicPr>
          <p:cNvPr id="5" name="Picture 4" descr="A close-up of a hand&#10;&#10;AI-generated content may be incorrect.">
            <a:extLst>
              <a:ext uri="{FF2B5EF4-FFF2-40B4-BE49-F238E27FC236}">
                <a16:creationId xmlns:a16="http://schemas.microsoft.com/office/drawing/2014/main" id="{BBB0C869-7C5C-4070-BD4D-F3FC2DA8F301}"/>
              </a:ext>
            </a:extLst>
          </p:cNvPr>
          <p:cNvPicPr>
            <a:picLocks noChangeAspect="1"/>
          </p:cNvPicPr>
          <p:nvPr/>
        </p:nvPicPr>
        <p:blipFill rotWithShape="1">
          <a:blip r:embed="rId3"/>
          <a:srcRect t="96181"/>
          <a:stretch/>
        </p:blipFill>
        <p:spPr>
          <a:xfrm>
            <a:off x="3854338" y="4636673"/>
            <a:ext cx="5421162" cy="207034"/>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6" name="Picture 15">
            <a:extLst>
              <a:ext uri="{FF2B5EF4-FFF2-40B4-BE49-F238E27FC236}">
                <a16:creationId xmlns:a16="http://schemas.microsoft.com/office/drawing/2014/main" id="{17CE1DA2-26DD-0486-41C6-C75DE51973C5}"/>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grpSp>
        <p:nvGrpSpPr>
          <p:cNvPr id="46" name="Group 45">
            <a:extLst>
              <a:ext uri="{FF2B5EF4-FFF2-40B4-BE49-F238E27FC236}">
                <a16:creationId xmlns:a16="http://schemas.microsoft.com/office/drawing/2014/main" id="{2356F361-DB9C-4716-8572-8E67E9AB4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1" name="Straight Connector 20">
              <a:extLst>
                <a:ext uri="{FF2B5EF4-FFF2-40B4-BE49-F238E27FC236}">
                  <a16:creationId xmlns:a16="http://schemas.microsoft.com/office/drawing/2014/main" id="{E6FF2CA3-6D93-438A-AA13-5844C345F8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D6C7FF8-C6AA-493F-BF62-FC52DE2770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47" name="Rectangle 23">
              <a:extLst>
                <a:ext uri="{FF2B5EF4-FFF2-40B4-BE49-F238E27FC236}">
                  <a16:creationId xmlns:a16="http://schemas.microsoft.com/office/drawing/2014/main" id="{215DAE39-2187-4AA8-8703-0F2B3BCFE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Rectangle 25">
              <a:extLst>
                <a:ext uri="{FF2B5EF4-FFF2-40B4-BE49-F238E27FC236}">
                  <a16:creationId xmlns:a16="http://schemas.microsoft.com/office/drawing/2014/main" id="{1D0826C5-89FD-49A0-9E8F-19DA04FE6F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Isosceles Triangle 48">
              <a:extLst>
                <a:ext uri="{FF2B5EF4-FFF2-40B4-BE49-F238E27FC236}">
                  <a16:creationId xmlns:a16="http://schemas.microsoft.com/office/drawing/2014/main" id="{CE0557FD-5B6C-4875-9EA4-18DAD6258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27">
              <a:extLst>
                <a:ext uri="{FF2B5EF4-FFF2-40B4-BE49-F238E27FC236}">
                  <a16:creationId xmlns:a16="http://schemas.microsoft.com/office/drawing/2014/main" id="{55C096D6-25B6-418D-8FFF-894AC5FB6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28">
              <a:extLst>
                <a:ext uri="{FF2B5EF4-FFF2-40B4-BE49-F238E27FC236}">
                  <a16:creationId xmlns:a16="http://schemas.microsoft.com/office/drawing/2014/main" id="{4480C8B4-C2F4-427B-B03E-ABF3C9AF1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29">
              <a:extLst>
                <a:ext uri="{FF2B5EF4-FFF2-40B4-BE49-F238E27FC236}">
                  <a16:creationId xmlns:a16="http://schemas.microsoft.com/office/drawing/2014/main" id="{E767DA1E-BBBF-419C-8E95-8393DA0F7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Isosceles Triangle 52">
              <a:extLst>
                <a:ext uri="{FF2B5EF4-FFF2-40B4-BE49-F238E27FC236}">
                  <a16:creationId xmlns:a16="http://schemas.microsoft.com/office/drawing/2014/main" id="{D88EF27D-D851-4A85-942B-DC69237C8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Isosceles Triangle 53">
              <a:extLst>
                <a:ext uri="{FF2B5EF4-FFF2-40B4-BE49-F238E27FC236}">
                  <a16:creationId xmlns:a16="http://schemas.microsoft.com/office/drawing/2014/main" id="{808DF878-FD48-4C53-8A3A-4636F450E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065" y="609600"/>
            <a:ext cx="2930518" cy="1320800"/>
          </a:xfrm>
        </p:spPr>
        <p:txBody>
          <a:bodyPr vert="horz" lIns="91440" tIns="45720" rIns="91440" bIns="45720" rtlCol="0" anchor="ctr">
            <a:normAutofit/>
          </a:bodyPr>
          <a:lstStyle/>
          <a:p>
            <a:r>
              <a:rPr lang="en-US" sz="3600">
                <a:solidFill>
                  <a:schemeClr val="accent1"/>
                </a:solidFill>
              </a:rPr>
              <a:t>RESULTS2</a:t>
            </a:r>
          </a:p>
        </p:txBody>
      </p:sp>
      <p:sp>
        <p:nvSpPr>
          <p:cNvPr id="13" name="TextBox 12">
            <a:extLst>
              <a:ext uri="{FF2B5EF4-FFF2-40B4-BE49-F238E27FC236}">
                <a16:creationId xmlns:a16="http://schemas.microsoft.com/office/drawing/2014/main" id="{7F048CD3-A684-9016-6135-CE813C359556}"/>
              </a:ext>
            </a:extLst>
          </p:cNvPr>
          <p:cNvSpPr txBox="1"/>
          <p:nvPr/>
        </p:nvSpPr>
        <p:spPr>
          <a:xfrm>
            <a:off x="671361" y="2160589"/>
            <a:ext cx="2930517" cy="3880773"/>
          </a:xfrm>
          <a:prstGeom prst="rect">
            <a:avLst/>
          </a:prstGeom>
        </p:spPr>
        <p:txBody>
          <a:bodyPr vert="horz" lIns="91440" tIns="45720" rIns="91440" bIns="45720" rtlCol="0">
            <a:normAutofit/>
          </a:bodyPr>
          <a:lstStyle/>
          <a:p>
            <a:pPr>
              <a:lnSpc>
                <a:spcPct val="90000"/>
              </a:lnSpc>
              <a:spcBef>
                <a:spcPts val="1000"/>
              </a:spcBef>
              <a:buClr>
                <a:schemeClr val="accent1"/>
              </a:buClr>
              <a:buSzPct val="80000"/>
              <a:buFont typeface="Wingdings 3" charset="2"/>
              <a:buChar char=""/>
            </a:pPr>
            <a:r>
              <a:rPr lang="en-US" b="0" i="0">
                <a:solidFill>
                  <a:schemeClr val="tx1">
                    <a:lumMod val="75000"/>
                    <a:lumOff val="25000"/>
                  </a:schemeClr>
                </a:solidFill>
                <a:effectLst/>
              </a:rPr>
              <a:t>The line plot depicting the construction year of properties versus the average price per property reveals a noticeable downward trend in prices as the construction years progress. The pattern demonstrates decreasing lows and highs. suggesting an overall decline in property prices as time progresses.</a:t>
            </a:r>
            <a:endParaRPr lang="en-US">
              <a:solidFill>
                <a:schemeClr val="tx1">
                  <a:lumMod val="75000"/>
                  <a:lumOff val="25000"/>
                </a:schemeClr>
              </a:solidFill>
            </a:endParaRPr>
          </a:p>
        </p:txBody>
      </p:sp>
      <p:pic>
        <p:nvPicPr>
          <p:cNvPr id="15" name="Picture 14" descr="A graph showing the average price of construction year&#10;&#10;AI-generated content may be incorrect.">
            <a:extLst>
              <a:ext uri="{FF2B5EF4-FFF2-40B4-BE49-F238E27FC236}">
                <a16:creationId xmlns:a16="http://schemas.microsoft.com/office/drawing/2014/main" id="{8AD7DD43-AF4A-F497-269C-7B20CC957A3A}"/>
              </a:ext>
            </a:extLst>
          </p:cNvPr>
          <p:cNvPicPr>
            <a:picLocks noChangeAspect="1"/>
          </p:cNvPicPr>
          <p:nvPr/>
        </p:nvPicPr>
        <p:blipFill>
          <a:blip r:embed="rId2"/>
          <a:stretch>
            <a:fillRect/>
          </a:stretch>
        </p:blipFill>
        <p:spPr>
          <a:xfrm>
            <a:off x="4210395" y="609600"/>
            <a:ext cx="7288819" cy="4027073"/>
          </a:xfrm>
          <a:prstGeom prst="rect">
            <a:avLst/>
          </a:prstGeom>
        </p:spPr>
      </p:pic>
      <p:pic>
        <p:nvPicPr>
          <p:cNvPr id="5" name="Picture 4" descr="A close-up of a hand&#10;&#10;AI-generated content may be incorrect.">
            <a:extLst>
              <a:ext uri="{FF2B5EF4-FFF2-40B4-BE49-F238E27FC236}">
                <a16:creationId xmlns:a16="http://schemas.microsoft.com/office/drawing/2014/main" id="{490F1862-D4F3-D9EB-176E-2E2938531BAC}"/>
              </a:ext>
            </a:extLst>
          </p:cNvPr>
          <p:cNvPicPr>
            <a:picLocks noChangeAspect="1"/>
          </p:cNvPicPr>
          <p:nvPr/>
        </p:nvPicPr>
        <p:blipFill rotWithShape="1">
          <a:blip r:embed="rId3"/>
          <a:srcRect t="96181"/>
          <a:stretch/>
        </p:blipFill>
        <p:spPr>
          <a:xfrm>
            <a:off x="3854338" y="4636673"/>
            <a:ext cx="5421162" cy="207034"/>
          </a:xfrm>
          <a:prstGeom prst="rect">
            <a:avLst/>
          </a:prstGeom>
        </p:spPr>
      </p:pic>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6" name="Picture 15">
            <a:extLst>
              <a:ext uri="{FF2B5EF4-FFF2-40B4-BE49-F238E27FC236}">
                <a16:creationId xmlns:a16="http://schemas.microsoft.com/office/drawing/2014/main" id="{3470C984-D684-C5D2-12F5-B1DC39BCB204}"/>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356F361-DB9C-4716-8572-8E67E9AB4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9" name="Straight Connector 18">
              <a:extLst>
                <a:ext uri="{FF2B5EF4-FFF2-40B4-BE49-F238E27FC236}">
                  <a16:creationId xmlns:a16="http://schemas.microsoft.com/office/drawing/2014/main" id="{E6FF2CA3-6D93-438A-AA13-5844C345F8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D6C7FF8-C6AA-493F-BF62-FC52DE2770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a:extLst>
                <a:ext uri="{FF2B5EF4-FFF2-40B4-BE49-F238E27FC236}">
                  <a16:creationId xmlns:a16="http://schemas.microsoft.com/office/drawing/2014/main" id="{215DAE39-2187-4AA8-8703-0F2B3BCFE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a:extLst>
                <a:ext uri="{FF2B5EF4-FFF2-40B4-BE49-F238E27FC236}">
                  <a16:creationId xmlns:a16="http://schemas.microsoft.com/office/drawing/2014/main" id="{1D0826C5-89FD-49A0-9E8F-19DA04FE6F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a:extLst>
                <a:ext uri="{FF2B5EF4-FFF2-40B4-BE49-F238E27FC236}">
                  <a16:creationId xmlns:a16="http://schemas.microsoft.com/office/drawing/2014/main" id="{CE0557FD-5B6C-4875-9EA4-18DAD6258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55C096D6-25B6-418D-8FFF-894AC5FB6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a:extLst>
                <a:ext uri="{FF2B5EF4-FFF2-40B4-BE49-F238E27FC236}">
                  <a16:creationId xmlns:a16="http://schemas.microsoft.com/office/drawing/2014/main" id="{4480C8B4-C2F4-427B-B03E-ABF3C9AF1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a:extLst>
                <a:ext uri="{FF2B5EF4-FFF2-40B4-BE49-F238E27FC236}">
                  <a16:creationId xmlns:a16="http://schemas.microsoft.com/office/drawing/2014/main" id="{E767DA1E-BBBF-419C-8E95-8393DA0F7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a:extLst>
                <a:ext uri="{FF2B5EF4-FFF2-40B4-BE49-F238E27FC236}">
                  <a16:creationId xmlns:a16="http://schemas.microsoft.com/office/drawing/2014/main" id="{D88EF27D-D851-4A85-942B-DC69237C8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808DF878-FD48-4C53-8A3A-4636F450E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065" y="609600"/>
            <a:ext cx="2930518" cy="1320800"/>
          </a:xfrm>
        </p:spPr>
        <p:txBody>
          <a:bodyPr vert="horz" lIns="91440" tIns="45720" rIns="91440" bIns="45720" rtlCol="0" anchor="ctr">
            <a:normAutofit/>
          </a:bodyPr>
          <a:lstStyle/>
          <a:p>
            <a:r>
              <a:rPr lang="en-US" sz="3600">
                <a:solidFill>
                  <a:schemeClr val="accent1"/>
                </a:solidFill>
              </a:rPr>
              <a:t>RESULTS3 </a:t>
            </a:r>
          </a:p>
        </p:txBody>
      </p:sp>
      <p:sp>
        <p:nvSpPr>
          <p:cNvPr id="11" name="TextBox 10">
            <a:extLst>
              <a:ext uri="{FF2B5EF4-FFF2-40B4-BE49-F238E27FC236}">
                <a16:creationId xmlns:a16="http://schemas.microsoft.com/office/drawing/2014/main" id="{C9D74B47-E5CB-9FB8-4696-1C063DC802A7}"/>
              </a:ext>
            </a:extLst>
          </p:cNvPr>
          <p:cNvSpPr txBox="1"/>
          <p:nvPr/>
        </p:nvSpPr>
        <p:spPr>
          <a:xfrm>
            <a:off x="671361" y="2160589"/>
            <a:ext cx="2930517" cy="3880773"/>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b="0" i="0">
                <a:solidFill>
                  <a:schemeClr val="tx1">
                    <a:lumMod val="75000"/>
                    <a:lumOff val="25000"/>
                  </a:schemeClr>
                </a:solidFill>
                <a:effectLst/>
              </a:rPr>
              <a:t>Hotel rooms exhibit has higher review rate compared to all other property types within the three neighborhood groups where they are located: Brooklyn, Manhattan, and Queens.</a:t>
            </a:r>
            <a:endParaRPr lang="en-US">
              <a:solidFill>
                <a:schemeClr val="tx1">
                  <a:lumMod val="75000"/>
                  <a:lumOff val="25000"/>
                </a:schemeClr>
              </a:solidFill>
            </a:endParaRPr>
          </a:p>
        </p:txBody>
      </p:sp>
      <p:pic>
        <p:nvPicPr>
          <p:cNvPr id="13" name="Picture 12" descr="A graph of different colored bars">
            <a:extLst>
              <a:ext uri="{FF2B5EF4-FFF2-40B4-BE49-F238E27FC236}">
                <a16:creationId xmlns:a16="http://schemas.microsoft.com/office/drawing/2014/main" id="{A27B2090-E6B2-8A35-9FA7-FCCE92BD4D66}"/>
              </a:ext>
            </a:extLst>
          </p:cNvPr>
          <p:cNvPicPr>
            <a:picLocks noChangeAspect="1"/>
          </p:cNvPicPr>
          <p:nvPr/>
        </p:nvPicPr>
        <p:blipFill>
          <a:blip r:embed="rId2"/>
          <a:stretch>
            <a:fillRect/>
          </a:stretch>
        </p:blipFill>
        <p:spPr>
          <a:xfrm>
            <a:off x="4210395" y="609600"/>
            <a:ext cx="6758009" cy="3733800"/>
          </a:xfrm>
          <a:prstGeom prst="rect">
            <a:avLst/>
          </a:prstGeom>
        </p:spPr>
      </p:pic>
      <p:pic>
        <p:nvPicPr>
          <p:cNvPr id="5" name="Picture 4" descr="A close-up of a hand&#10;&#10;AI-generated content may be incorrect.">
            <a:extLst>
              <a:ext uri="{FF2B5EF4-FFF2-40B4-BE49-F238E27FC236}">
                <a16:creationId xmlns:a16="http://schemas.microsoft.com/office/drawing/2014/main" id="{B76194CC-45AC-6391-C127-232D7FE17E83}"/>
              </a:ext>
            </a:extLst>
          </p:cNvPr>
          <p:cNvPicPr>
            <a:picLocks noChangeAspect="1"/>
          </p:cNvPicPr>
          <p:nvPr/>
        </p:nvPicPr>
        <p:blipFill rotWithShape="1">
          <a:blip r:embed="rId3"/>
          <a:srcRect t="96181"/>
          <a:stretch/>
        </p:blipFill>
        <p:spPr>
          <a:xfrm>
            <a:off x="3854338" y="4636673"/>
            <a:ext cx="5421162" cy="207034"/>
          </a:xfrm>
          <a:prstGeom prst="rect">
            <a:avLst/>
          </a:prstGeom>
        </p:spPr>
      </p:pic>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B49C04A1-039F-CBB6-7B0A-79B63CFFD169}"/>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785359" y="2027686"/>
            <a:ext cx="7501392" cy="2553970"/>
          </a:xfrm>
        </p:spPr>
        <p:txBody>
          <a:bodyPr vert="horz" lIns="91440" tIns="45720" rIns="91440" bIns="45720" rtlCol="0" anchor="t">
            <a:normAutofit/>
          </a:bodyPr>
          <a:lstStyle/>
          <a:p>
            <a:pPr marL="0" indent="0">
              <a:buNone/>
            </a:pPr>
            <a:r>
              <a:rPr lang="en-US" sz="2400" dirty="0"/>
              <a:t>https://github.com/Krnkreddy/VOIS_AICTE_Oct2025_KRangaNitheeshKumarReddy.git</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descr="A certificate of completion with red and white text&#10;&#10;AI-generated content may be incorrect.">
            <a:extLst>
              <a:ext uri="{FF2B5EF4-FFF2-40B4-BE49-F238E27FC236}">
                <a16:creationId xmlns:a16="http://schemas.microsoft.com/office/drawing/2014/main" id="{4A84A942-FFAC-3ABA-4315-F975CB218A4A}"/>
              </a:ext>
            </a:extLst>
          </p:cNvPr>
          <p:cNvPicPr>
            <a:picLocks noChangeAspect="1"/>
          </p:cNvPicPr>
          <p:nvPr/>
        </p:nvPicPr>
        <p:blipFill>
          <a:blip r:embed="rId3"/>
          <a:stretch>
            <a:fillRect/>
          </a:stretch>
        </p:blipFill>
        <p:spPr>
          <a:xfrm>
            <a:off x="1747519" y="1084140"/>
            <a:ext cx="7890978" cy="5580820"/>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A certificate of completion with a red ribbon and a red seal&#10;&#10;AI-generated content may be incorrect.">
            <a:extLst>
              <a:ext uri="{FF2B5EF4-FFF2-40B4-BE49-F238E27FC236}">
                <a16:creationId xmlns:a16="http://schemas.microsoft.com/office/drawing/2014/main" id="{8DEDD970-86AE-19B6-1229-39735AB134FC}"/>
              </a:ext>
            </a:extLst>
          </p:cNvPr>
          <p:cNvPicPr>
            <a:picLocks noChangeAspect="1"/>
          </p:cNvPicPr>
          <p:nvPr/>
        </p:nvPicPr>
        <p:blipFill>
          <a:blip r:embed="rId3"/>
          <a:stretch>
            <a:fillRect/>
          </a:stretch>
        </p:blipFill>
        <p:spPr>
          <a:xfrm>
            <a:off x="1232808" y="1009078"/>
            <a:ext cx="7997112" cy="5655882"/>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03536" y="2251559"/>
            <a:ext cx="11340000" cy="700114"/>
          </a:xfrm>
          <a:prstGeom prst="rect">
            <a:avLst/>
          </a:prstGeom>
        </p:spPr>
        <p:txBody>
          <a:bodyPr anchor="ctr">
            <a:noAutofit/>
          </a:bodyPr>
          <a:lstStyle/>
          <a:p>
            <a:pPr algn="ctr"/>
            <a:r>
              <a:rPr lang="en-US" sz="54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579</TotalTime>
  <Words>380</Words>
  <Application>Microsoft Office PowerPoint</Application>
  <PresentationFormat>Widescreen</PresentationFormat>
  <Paragraphs>35</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Unicode MS</vt:lpstr>
      <vt:lpstr>Calibri</vt:lpstr>
      <vt:lpstr>Trebuchet MS</vt:lpstr>
      <vt:lpstr>Wingdings</vt:lpstr>
      <vt:lpstr>Wingdings 3</vt:lpstr>
      <vt:lpstr>Facet</vt:lpstr>
      <vt:lpstr>AIRBNB HOTEL BOOKING ANALYSIS</vt:lpstr>
      <vt:lpstr>PROBLEM  STATEMENT</vt:lpstr>
      <vt:lpstr>Project Description This project builds a machine learning regression model to predict Airbnb listing prices. By analyzing historical data and listing attributes—such as number of bedrooms, bathrooms, and guest ratings—the model helps hosts set optimal prices, maximizing occupancy and earnings, while ensuring fair and competitive rates for travelers.</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 RANGA NITHEESH KUMAR REDDY</cp:lastModifiedBy>
  <cp:revision>125</cp:revision>
  <dcterms:created xsi:type="dcterms:W3CDTF">2021-07-11T13:13:15Z</dcterms:created>
  <dcterms:modified xsi:type="dcterms:W3CDTF">2025-10-03T13:19:07Z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